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notesSlides/notesSlide4.xml" ContentType="application/vnd.openxmlformats-officedocument.presentationml.notesSlide+xml"/>
  <Override PartName="/ppt/notesSlides/_rels/notesSlide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26.1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10.1</c:v>
                </c:pt>
                <c:pt idx="1">
                  <c:v>14.2</c:v>
                </c:pt>
                <c:pt idx="2">
                  <c:v>12</c:v>
                </c:pt>
                <c:pt idx="3">
                  <c:v>18.4</c:v>
                </c:pt>
              </c:numCache>
            </c:numRef>
          </c:val>
        </c:ser>
        <c:gapWidth val="150"/>
        <c:overlap val="0"/>
        <c:axId val="65050300"/>
        <c:axId val="55834767"/>
      </c:barChart>
      <c:catAx>
        <c:axId val="65050300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5834767"/>
        <c:crosses val="autoZero"/>
        <c:auto val="1"/>
        <c:lblAlgn val="ctr"/>
        <c:lblOffset val="100"/>
        <c:noMultiLvlLbl val="0"/>
      </c:catAx>
      <c:valAx>
        <c:axId val="5583476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505030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DA5C5A9-A5CE-40CF-BBD9-989BAEE0422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1050" strike="noStrike" u="none">
                <a:solidFill>
                  <a:srgbClr val="000000"/>
                </a:solidFill>
                <a:uFillTx/>
                <a:latin typeface="DejaVuSans"/>
                <a:ea typeface="Microsoft YaHei"/>
              </a:rPr>
              <a:t>Pellentesque fermentum nisl vitae fringilla venenatis. Etiam id mauris vitae orci maximus ultricies</a:t>
            </a:r>
            <a:endParaRPr b="0" lang="en-US" sz="1050" strike="noStrike" u="none">
              <a:solidFill>
                <a:srgbClr val="000000"/>
              </a:solidFill>
              <a:uFillTx/>
              <a:latin typeface="DejaVuSans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BDB860-27F8-4F80-93EA-202E0DFC57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42D832-80B4-4B52-8CE1-008FB47934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21F8D2-0A0D-4631-8FB9-E12499203D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B9FFAB2-390E-4621-AA39-D8EEF76B1D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5CA6034-8F4A-4403-BB27-44F9DA656E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62049D-C715-4823-95EC-E28F42CB0E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00FB3B5-2B09-498A-B40D-A92F4496E7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0E3C23F-4E47-447F-B119-AC2613E9E1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EB2AA27-E07F-4640-8E92-9E44AB7709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375FFB3-826F-4609-905B-9D025AD9F8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6CC6284-7567-4D0F-92F8-C9C21926BF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85A613-5173-403F-8F33-2623803D30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4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E89C50-72A6-4881-92B3-0BD24661B0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C71DF0-220A-4784-AECB-19E377F826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43831C-C796-409E-8CEF-92FA49BAAA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A6B895-AAC9-4391-A2FD-691187DF4C5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C84E28-0417-4D24-8BFD-17A0DF4BA5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823EA3-966B-4C11-94DA-46CB435C2D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88123E-7850-48B8-A8D6-7B975B1C77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14B359-0EC3-49D1-BAE0-AAB4849DE1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5C4121-0279-4E89-9605-F2817316B52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D11E75-08CD-4AF3-8B83-84004AE5C3B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Sample Presentation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A demo PPTX file from samplelib.com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Agenda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Introduction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Project goals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Quarterly results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Roadmap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Questions &amp; answers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Lorem ipsum 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Project Goals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Ship the new dashboard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Faster page loads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Mobile-first layout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Grow active users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Lorem ipsum churn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Improve vitae libero 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vitae libero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aphicFrame>
        <p:nvGraphicFramePr>
          <p:cNvPr id="82" name="Table 2"/>
          <p:cNvGraphicFramePr/>
          <p:nvPr/>
        </p:nvGraphicFramePr>
        <p:xfrm>
          <a:off x="1645920" y="1737360"/>
          <a:ext cx="8869320" cy="3474360"/>
        </p:xfrm>
        <a:graphic>
          <a:graphicData uri="http://schemas.openxmlformats.org/drawingml/2006/table">
            <a:tbl>
              <a:tblPr/>
              <a:tblGrid>
                <a:gridCol w="2217240"/>
                <a:gridCol w="2217240"/>
                <a:gridCol w="2217240"/>
                <a:gridCol w="2217240"/>
              </a:tblGrid>
              <a:tr h="694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Region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Q1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Q2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Q3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94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North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120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135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150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94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South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98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102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117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694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East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143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139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161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94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West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76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88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94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Lorem ipsum by Quarter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aphicFrame>
        <p:nvGraphicFramePr>
          <p:cNvPr id="84" name="Chart 2"/>
          <p:cNvGraphicFramePr/>
          <p:nvPr/>
        </p:nvGraphicFramePr>
        <p:xfrm>
          <a:off x="2011680" y="1645920"/>
          <a:ext cx="822924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Embedded Image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86" name="Picture 2" descr="image.png"/>
          <p:cNvPicPr/>
          <p:nvPr/>
        </p:nvPicPr>
        <p:blipFill>
          <a:blip r:embed="rId1"/>
          <a:stretch/>
        </p:blipFill>
        <p:spPr>
          <a:xfrm>
            <a:off x="3200400" y="1737360"/>
            <a:ext cx="61718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Pros and Cons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1371600" y="1828800"/>
            <a:ext cx="502884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Advantages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Open standard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Wide tool support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Easy to script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6858000" y="1828800"/>
            <a:ext cx="502884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Trade-offs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Verbose XML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Large file sizes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•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Layout drift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4417200" y="2743200"/>
            <a:ext cx="3357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chemeClr val="dk1"/>
                </a:solidFill>
                <a:uFillTx/>
                <a:latin typeface="Calibri"/>
              </a:rPr>
              <a:t>Thank you!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LibreOffice/24.8.0.3$Windows_X86_64 LibreOffice_project/0bdf1299c94fe897b119f97f3c613e9dca6be583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2026-10-18T21:10:39Z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